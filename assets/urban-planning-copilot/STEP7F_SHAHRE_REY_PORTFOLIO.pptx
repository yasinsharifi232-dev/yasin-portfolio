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Introduce a research prototype for expert review of pedestrian access to mapped services. The case demonstrates spatial and network analysis, evidence traceability and responsible interpretation. It does not establish municipal operational readiness.</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Three connected questions: what is mapped, how it connects in the model and what evidence supports interpretation. Counts alone cannot establish convenient, safe or inclusive access. The diagram is conceptual and adds no new findings.</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Study point 35.5914818, 51.4377065; alignment with the intended square centre remains unconfirmed. The main point buffer is 500 m; extracted search extent is 800 m; analytical scales are 300, 500 and 800 m. Recorded data capture: 2026-10-02T19:33:45+00:00; from_cache=true, stale_fallback=false. Anchor product timestamp: 2026-10-05T21:22:13.013026+00:00. Older export: 2026-10-02T20:48:39Z. These runs are not merged. Rings are a conceptual illustration, not a geographical map.</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Read one comparison rather than all cells: at 500 m, 88 of 88 mapped destinations connect, but the P90 route is 829 m. The case study also reports only 58.0% of all mapped destinations within a 400 m network route. At 800 m, 164 of 177 connect; the cause of 13 non-connections is unknown. Detour is a dimensionless reported mean. Rounded distances are metres. These are model outputs, not field measurements.</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Unknown does not mean absent. The 1.1%/98.9% profile is aggregate reported tagged length, not each buffer and not a physical sidewalk survey. Width, surface, continuity, comfort and safety were not established. Confidence values come from different fields and are not probabilities of correctness. Scientific runtime version remains unknown. Empty diagnosis and recommendations are not evidence that intervention is unnecessary.</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prototype organises questions, scopes, indicators, provenance and limitations for GIS and urban planning review. It can make follow-up questions explicit. It does not determine definitive intervention priority, route safety or the final municipal decision. Describe demonstrated project capabilities; do not invent individual ownership, leadership or quantified efficiency gains.</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Close with the case verdict. A focused joint GIS/urban planning visit should verify the origin, real destination entrance, connections, crossings and sidewalk continuity to the taxi terminal. Reported direct distance is 61 m and network distance is 433 m; these are review candidates, not a confirmed barrier. Output: photos, an annotated map and a model-versus-observation table. No citywide generalisation or weight calibration. This research step is not required to show the present portfolio case.</a:t>
            </a:r>
          </a:p>
          <a:p/>
          <a:p>
            <a:r>
              <a:t>Content reference: /Resume/Projects/Urban-Planning-Copilot/docs/active/STEP7D_SHAHRE_REY_CASE_STUDY.md. Supporting files: STEP7E_PORTFOLIO_SUMMARY.md, STEP7E_PORTFOLIO_BLURB.md, STEP7E_EVIDENCE_AND_CLAIMS.md, STEP7E_PRESENTATION_GUIDE.md. Based on existing outputs, not a new pipeline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D39"/>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RESEARCH PORTFOLIO</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p>
        </p:txBody>
      </p:sp>
      <p:sp>
        <p:nvSpPr>
          <p:cNvPr id="4" name="Rectangle 3"/>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01 / 07</a:t>
            </a:r>
          </a:p>
        </p:txBody>
      </p:sp>
      <p:sp>
        <p:nvSpPr>
          <p:cNvPr id="7" name="TextBox 6"/>
          <p:cNvSpPr txBox="1"/>
          <p:nvPr/>
        </p:nvSpPr>
        <p:spPr>
          <a:xfrm>
            <a:off x="594360" y="1005840"/>
            <a:ext cx="10515600" cy="1737360"/>
          </a:xfrm>
          <a:prstGeom prst="rect">
            <a:avLst/>
          </a:prstGeom>
          <a:noFill/>
        </p:spPr>
        <p:txBody>
          <a:bodyPr wrap="square" lIns="0" rIns="0" tIns="0" bIns="0">
            <a:spAutoFit/>
          </a:bodyPr>
          <a:lstStyle/>
          <a:p>
            <a:pPr>
              <a:spcAft>
                <a:spcPts val="700"/>
              </a:spcAft>
              <a:defRPr sz="3400" b="1">
                <a:solidFill>
                  <a:srgbClr val="FFFFFF"/>
                </a:solidFill>
                <a:latin typeface="DejaVu Sans"/>
              </a:defRPr>
            </a:pPr>
            <a:r>
              <a:t>Spatial Urban Assessment</a:t>
            </a:r>
          </a:p>
          <a:p>
            <a:pPr>
              <a:spcAft>
                <a:spcPts val="700"/>
              </a:spcAft>
              <a:defRPr sz="3400" b="1">
                <a:solidFill>
                  <a:srgbClr val="FFFFFF"/>
                </a:solidFill>
                <a:latin typeface="DejaVu Sans"/>
              </a:defRPr>
            </a:pPr>
            <a:r>
              <a:t>&amp; Decision-Support System</a:t>
            </a:r>
          </a:p>
        </p:txBody>
      </p:sp>
      <p:sp>
        <p:nvSpPr>
          <p:cNvPr id="8" name="TextBox 7"/>
          <p:cNvSpPr txBox="1"/>
          <p:nvPr/>
        </p:nvSpPr>
        <p:spPr>
          <a:xfrm>
            <a:off x="594360" y="2971800"/>
            <a:ext cx="9875520" cy="868680"/>
          </a:xfrm>
          <a:prstGeom prst="rect">
            <a:avLst/>
          </a:prstGeom>
          <a:noFill/>
        </p:spPr>
        <p:txBody>
          <a:bodyPr wrap="square" lIns="0" rIns="0" tIns="0" bIns="0">
            <a:spAutoFit/>
          </a:bodyPr>
          <a:lstStyle/>
          <a:p>
            <a:pPr>
              <a:spcAft>
                <a:spcPts val="700"/>
              </a:spcAft>
              <a:defRPr sz="2300" b="0">
                <a:solidFill>
                  <a:srgbClr val="B5DCD4"/>
                </a:solidFill>
                <a:latin typeface="DejaVu Sans"/>
              </a:defRPr>
            </a:pPr>
            <a:r>
              <a:t>Pedestrian Access Screening around</a:t>
            </a:r>
          </a:p>
          <a:p>
            <a:pPr>
              <a:spcAft>
                <a:spcPts val="700"/>
              </a:spcAft>
              <a:defRPr sz="2300" b="0">
                <a:solidFill>
                  <a:srgbClr val="B5DCD4"/>
                </a:solidFill>
                <a:latin typeface="DejaVu Sans"/>
              </a:defRPr>
            </a:pPr>
            <a:r>
              <a:t>Shahr-e Rey Square, Tehran</a:t>
            </a:r>
          </a:p>
        </p:txBody>
      </p:sp>
      <p:sp>
        <p:nvSpPr>
          <p:cNvPr id="9" name="Rectangle 8"/>
          <p:cNvSpPr/>
          <p:nvPr/>
        </p:nvSpPr>
        <p:spPr>
          <a:xfrm>
            <a:off x="594360" y="4251960"/>
            <a:ext cx="2468880" cy="384048"/>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25112"/>
            <a:ext cx="2194560" cy="274320"/>
          </a:xfrm>
          <a:prstGeom prst="rect">
            <a:avLst/>
          </a:prstGeom>
          <a:noFill/>
        </p:spPr>
        <p:txBody>
          <a:bodyPr wrap="square" lIns="0" rIns="0" tIns="0" bIns="0">
            <a:spAutoFit/>
          </a:bodyPr>
          <a:lstStyle/>
          <a:p>
            <a:pPr>
              <a:spcAft>
                <a:spcPts val="700"/>
              </a:spcAft>
              <a:defRPr sz="1200" b="1">
                <a:solidFill>
                  <a:srgbClr val="FFFFFF"/>
                </a:solidFill>
                <a:latin typeface="DejaVu Sans"/>
              </a:defRPr>
            </a:pPr>
            <a:r>
              <a:t>RESEARCH PROTOTYPE</a:t>
            </a:r>
          </a:p>
        </p:txBody>
      </p:sp>
      <p:sp>
        <p:nvSpPr>
          <p:cNvPr id="11" name="TextBox 10"/>
          <p:cNvSpPr txBox="1"/>
          <p:nvPr/>
        </p:nvSpPr>
        <p:spPr>
          <a:xfrm>
            <a:off x="594360" y="4983480"/>
            <a:ext cx="9692640" cy="822960"/>
          </a:xfrm>
          <a:prstGeom prst="rect">
            <a:avLst/>
          </a:prstGeom>
          <a:noFill/>
        </p:spPr>
        <p:txBody>
          <a:bodyPr wrap="square" lIns="0" rIns="0" tIns="0" bIns="0">
            <a:spAutoFit/>
          </a:bodyPr>
          <a:lstStyle/>
          <a:p>
            <a:pPr>
              <a:spcAft>
                <a:spcPts val="700"/>
              </a:spcAft>
              <a:defRPr sz="2100" b="0">
                <a:solidFill>
                  <a:srgbClr val="FFFFFF"/>
                </a:solidFill>
                <a:latin typeface="DejaVu Sans"/>
              </a:defRPr>
            </a:pPr>
            <a:r>
              <a:t>Organising spatial evidence for expert review:</a:t>
            </a:r>
          </a:p>
          <a:p>
            <a:pPr>
              <a:spcAft>
                <a:spcPts val="700"/>
              </a:spcAft>
              <a:defRPr sz="2100" b="0">
                <a:solidFill>
                  <a:srgbClr val="FFFFFF"/>
                </a:solidFill>
                <a:latin typeface="DejaVu Sans"/>
              </a:defRPr>
            </a:pPr>
            <a:r>
              <a:t>mapped services, modelled routes and visible uncertainty.</a:t>
            </a:r>
          </a:p>
        </p:txBody>
      </p:sp>
      <p:sp>
        <p:nvSpPr>
          <p:cNvPr id="12" name="TextBox 11"/>
          <p:cNvSpPr txBox="1"/>
          <p:nvPr/>
        </p:nvSpPr>
        <p:spPr>
          <a:xfrm>
            <a:off x="594360" y="6080760"/>
            <a:ext cx="10058400" cy="228600"/>
          </a:xfrm>
          <a:prstGeom prst="rect">
            <a:avLst/>
          </a:prstGeom>
          <a:noFill/>
        </p:spPr>
        <p:txBody>
          <a:bodyPr wrap="square" lIns="0" rIns="0" tIns="0" bIns="0">
            <a:spAutoFit/>
          </a:bodyPr>
          <a:lstStyle/>
          <a:p>
            <a:pPr>
              <a:spcAft>
                <a:spcPts val="700"/>
              </a:spcAft>
              <a:defRPr sz="1200" b="0">
                <a:solidFill>
                  <a:srgbClr val="B5DCD4"/>
                </a:solidFill>
                <a:latin typeface="DejaVu Sans"/>
              </a:defRPr>
            </a:pPr>
            <a:r>
              <a:t>GIS • network analysis • evidence traceability • urban interpretation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THE URBAN QUESTION</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A service nearby is only the starting point</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Destination counts need a network and an evidence context.</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02 / 07</a:t>
            </a:r>
          </a:p>
        </p:txBody>
      </p:sp>
      <p:sp>
        <p:nvSpPr>
          <p:cNvPr id="8" name="Rectangle 7"/>
          <p:cNvSpPr/>
          <p:nvPr/>
        </p:nvSpPr>
        <p:spPr>
          <a:xfrm>
            <a:off x="502920" y="2377440"/>
            <a:ext cx="34747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377440"/>
            <a:ext cx="41148" cy="2926080"/>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542032"/>
            <a:ext cx="3072384"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01 / DESTINATIONS</a:t>
            </a:r>
          </a:p>
        </p:txBody>
      </p:sp>
      <p:sp>
        <p:nvSpPr>
          <p:cNvPr id="11" name="TextBox 10"/>
          <p:cNvSpPr txBox="1"/>
          <p:nvPr/>
        </p:nvSpPr>
        <p:spPr>
          <a:xfrm>
            <a:off x="704088" y="2962656"/>
            <a:ext cx="3072384" cy="594360"/>
          </a:xfrm>
          <a:prstGeom prst="rect">
            <a:avLst/>
          </a:prstGeom>
          <a:noFill/>
        </p:spPr>
        <p:txBody>
          <a:bodyPr wrap="square" lIns="0" rIns="0" tIns="0" bIns="0">
            <a:spAutoFit/>
          </a:bodyPr>
          <a:lstStyle/>
          <a:p>
            <a:pPr>
              <a:spcAft>
                <a:spcPts val="700"/>
              </a:spcAft>
              <a:defRPr sz="2100" b="1">
                <a:solidFill>
                  <a:srgbClr val="172D39"/>
                </a:solidFill>
                <a:latin typeface="DejaVu Sans"/>
              </a:defRPr>
            </a:pPr>
            <a:r>
              <a:t>What is mapped?</a:t>
            </a:r>
          </a:p>
        </p:txBody>
      </p:sp>
      <p:sp>
        <p:nvSpPr>
          <p:cNvPr id="12" name="TextBox 11"/>
          <p:cNvSpPr txBox="1"/>
          <p:nvPr/>
        </p:nvSpPr>
        <p:spPr>
          <a:xfrm>
            <a:off x="704088" y="3675887"/>
            <a:ext cx="3072384" cy="1536192"/>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Services represented in the dataset.</a:t>
            </a:r>
          </a:p>
          <a:p>
            <a:pPr>
              <a:spcAft>
                <a:spcPts val="700"/>
              </a:spcAft>
              <a:defRPr sz="1700" b="0">
                <a:solidFill>
                  <a:srgbClr val="5C6C73"/>
                </a:solidFill>
                <a:latin typeface="DejaVu Sans"/>
              </a:defRPr>
            </a:pPr>
            <a:r>
              <a:t>Completeness of the real inventory remains unknown.</a:t>
            </a:r>
          </a:p>
        </p:txBody>
      </p:sp>
      <p:sp>
        <p:nvSpPr>
          <p:cNvPr id="13" name="Rectangle 12"/>
          <p:cNvSpPr/>
          <p:nvPr/>
        </p:nvSpPr>
        <p:spPr>
          <a:xfrm>
            <a:off x="4343400" y="2377440"/>
            <a:ext cx="34747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377440"/>
            <a:ext cx="41148" cy="2926080"/>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2542032"/>
            <a:ext cx="3072384"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02 / NETWORK</a:t>
            </a:r>
          </a:p>
        </p:txBody>
      </p:sp>
      <p:sp>
        <p:nvSpPr>
          <p:cNvPr id="16" name="TextBox 15"/>
          <p:cNvSpPr txBox="1"/>
          <p:nvPr/>
        </p:nvSpPr>
        <p:spPr>
          <a:xfrm>
            <a:off x="4544568" y="2962656"/>
            <a:ext cx="3072384" cy="594360"/>
          </a:xfrm>
          <a:prstGeom prst="rect">
            <a:avLst/>
          </a:prstGeom>
          <a:noFill/>
        </p:spPr>
        <p:txBody>
          <a:bodyPr wrap="square" lIns="0" rIns="0" tIns="0" bIns="0">
            <a:spAutoFit/>
          </a:bodyPr>
          <a:lstStyle/>
          <a:p>
            <a:pPr>
              <a:spcAft>
                <a:spcPts val="700"/>
              </a:spcAft>
              <a:defRPr sz="2100" b="1">
                <a:solidFill>
                  <a:srgbClr val="172D39"/>
                </a:solidFill>
                <a:latin typeface="DejaVu Sans"/>
              </a:defRPr>
            </a:pPr>
            <a:r>
              <a:t>How is it connected?</a:t>
            </a:r>
          </a:p>
        </p:txBody>
      </p:sp>
      <p:sp>
        <p:nvSpPr>
          <p:cNvPr id="17" name="TextBox 16"/>
          <p:cNvSpPr txBox="1"/>
          <p:nvPr/>
        </p:nvSpPr>
        <p:spPr>
          <a:xfrm>
            <a:off x="4544568" y="3675887"/>
            <a:ext cx="3072384" cy="1536192"/>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Model connectivity and route length.</a:t>
            </a:r>
          </a:p>
          <a:p>
            <a:pPr>
              <a:spcAft>
                <a:spcPts val="700"/>
              </a:spcAft>
              <a:defRPr sz="1700" b="0">
                <a:solidFill>
                  <a:srgbClr val="5C6C73"/>
                </a:solidFill>
                <a:latin typeface="DejaVu Sans"/>
              </a:defRPr>
            </a:pPr>
            <a:r>
              <a:t>A geometric radius does not cap network distance.</a:t>
            </a:r>
          </a:p>
        </p:txBody>
      </p:sp>
      <p:sp>
        <p:nvSpPr>
          <p:cNvPr id="18" name="Rectangle 17"/>
          <p:cNvSpPr/>
          <p:nvPr/>
        </p:nvSpPr>
        <p:spPr>
          <a:xfrm>
            <a:off x="8183879" y="2377440"/>
            <a:ext cx="34747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2377440"/>
            <a:ext cx="41148" cy="2926080"/>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2542032"/>
            <a:ext cx="3072384"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03 / EVIDENCE</a:t>
            </a:r>
          </a:p>
        </p:txBody>
      </p:sp>
      <p:sp>
        <p:nvSpPr>
          <p:cNvPr id="21" name="TextBox 20"/>
          <p:cNvSpPr txBox="1"/>
          <p:nvPr/>
        </p:nvSpPr>
        <p:spPr>
          <a:xfrm>
            <a:off x="8385048" y="2962656"/>
            <a:ext cx="3072384" cy="594360"/>
          </a:xfrm>
          <a:prstGeom prst="rect">
            <a:avLst/>
          </a:prstGeom>
          <a:noFill/>
        </p:spPr>
        <p:txBody>
          <a:bodyPr wrap="square" lIns="0" rIns="0" tIns="0" bIns="0">
            <a:spAutoFit/>
          </a:bodyPr>
          <a:lstStyle/>
          <a:p>
            <a:pPr>
              <a:spcAft>
                <a:spcPts val="700"/>
              </a:spcAft>
              <a:defRPr sz="2100" b="1">
                <a:solidFill>
                  <a:srgbClr val="172D39"/>
                </a:solidFill>
                <a:latin typeface="DejaVu Sans"/>
              </a:defRPr>
            </a:pPr>
            <a:r>
              <a:t>What can we trust?</a:t>
            </a:r>
          </a:p>
        </p:txBody>
      </p:sp>
      <p:sp>
        <p:nvSpPr>
          <p:cNvPr id="22" name="TextBox 21"/>
          <p:cNvSpPr txBox="1"/>
          <p:nvPr/>
        </p:nvSpPr>
        <p:spPr>
          <a:xfrm>
            <a:off x="8385048" y="3675887"/>
            <a:ext cx="3072384" cy="1536192"/>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Provenance, missing tags and uncertainty.</a:t>
            </a:r>
          </a:p>
          <a:p>
            <a:pPr>
              <a:spcAft>
                <a:spcPts val="700"/>
              </a:spcAft>
              <a:defRPr sz="1700" b="0">
                <a:solidFill>
                  <a:srgbClr val="5C6C73"/>
                </a:solidFill>
                <a:latin typeface="DejaVu Sans"/>
              </a:defRPr>
            </a:pPr>
            <a:r>
              <a:t>Physical sidewalk quality needs observation.</a:t>
            </a:r>
          </a:p>
        </p:txBody>
      </p:sp>
      <p:sp>
        <p:nvSpPr>
          <p:cNvPr id="23" name="TextBox 22"/>
          <p:cNvSpPr txBox="1"/>
          <p:nvPr/>
        </p:nvSpPr>
        <p:spPr>
          <a:xfrm>
            <a:off x="502920" y="5623560"/>
            <a:ext cx="10972800" cy="438912"/>
          </a:xfrm>
          <a:prstGeom prst="rect">
            <a:avLst/>
          </a:prstGeom>
          <a:noFill/>
        </p:spPr>
        <p:txBody>
          <a:bodyPr wrap="square" lIns="0" rIns="0" tIns="0" bIns="0">
            <a:spAutoFit/>
          </a:bodyPr>
          <a:lstStyle/>
          <a:p>
            <a:pPr>
              <a:spcAft>
                <a:spcPts val="700"/>
              </a:spcAft>
              <a:defRPr sz="1700" b="1">
                <a:solidFill>
                  <a:srgbClr val="16796F"/>
                </a:solidFill>
                <a:latin typeface="DejaVu Sans"/>
              </a:defRPr>
            </a:pPr>
            <a:r>
              <a:t>Conceptual framework: destinations + network + evidence → reviewable urban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METHOD</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Geometric scales, network paths, evidence trail</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Existing OpenStreetMap / Overpass outputs and modelled shortest network paths.</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03 / 07</a:t>
            </a:r>
          </a:p>
        </p:txBody>
      </p:sp>
      <p:sp>
        <p:nvSpPr>
          <p:cNvPr id="8" name="Oval 7"/>
          <p:cNvSpPr/>
          <p:nvPr/>
        </p:nvSpPr>
        <p:spPr>
          <a:xfrm>
            <a:off x="685800" y="2331720"/>
            <a:ext cx="3200400" cy="3200400"/>
          </a:xfrm>
          <a:prstGeom prst="ellipse">
            <a:avLst/>
          </a:prstGeom>
          <a:noFill/>
          <a:ln>
            <a:solidFill>
              <a:srgbClr val="1679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85875" y="2931795"/>
            <a:ext cx="2000250" cy="2000250"/>
          </a:xfrm>
          <a:prstGeom prst="ellipse">
            <a:avLst/>
          </a:prstGeom>
          <a:noFill/>
          <a:ln>
            <a:solidFill>
              <a:srgbClr val="1679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85925" y="3331845"/>
            <a:ext cx="1200150" cy="1200150"/>
          </a:xfrm>
          <a:prstGeom prst="ellipse">
            <a:avLst/>
          </a:prstGeom>
          <a:noFill/>
          <a:ln>
            <a:solidFill>
              <a:srgbClr val="1679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12848" y="3840480"/>
            <a:ext cx="128016" cy="128016"/>
          </a:xfrm>
          <a:prstGeom prst="ellipse">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687568"/>
            <a:ext cx="3383280" cy="411480"/>
          </a:xfrm>
          <a:prstGeom prst="rect">
            <a:avLst/>
          </a:prstGeom>
          <a:noFill/>
        </p:spPr>
        <p:txBody>
          <a:bodyPr wrap="square" lIns="0" rIns="0" tIns="0" bIns="0">
            <a:spAutoFit/>
          </a:bodyPr>
          <a:lstStyle/>
          <a:p>
            <a:pPr>
              <a:spcAft>
                <a:spcPts val="700"/>
              </a:spcAft>
              <a:defRPr sz="1200" b="0">
                <a:solidFill>
                  <a:srgbClr val="5C6C73"/>
                </a:solidFill>
                <a:latin typeface="DejaVu Sans"/>
              </a:defRPr>
            </a:pPr>
            <a:r>
              <a:t>300 / 500 / 800 m</a:t>
            </a:r>
          </a:p>
          <a:p>
            <a:pPr>
              <a:spcAft>
                <a:spcPts val="700"/>
              </a:spcAft>
              <a:defRPr sz="1200" b="0">
                <a:solidFill>
                  <a:srgbClr val="5C6C73"/>
                </a:solidFill>
                <a:latin typeface="DejaVu Sans"/>
              </a:defRPr>
            </a:pPr>
            <a:r>
              <a:t>Conceptual buffers — not a map</a:t>
            </a:r>
          </a:p>
        </p:txBody>
      </p:sp>
      <p:sp>
        <p:nvSpPr>
          <p:cNvPr id="13" name="TextBox 12"/>
          <p:cNvSpPr txBox="1"/>
          <p:nvPr/>
        </p:nvSpPr>
        <p:spPr>
          <a:xfrm>
            <a:off x="4480560" y="2377440"/>
            <a:ext cx="365760" cy="411480"/>
          </a:xfrm>
          <a:prstGeom prst="rect">
            <a:avLst/>
          </a:prstGeom>
          <a:noFill/>
        </p:spPr>
        <p:txBody>
          <a:bodyPr wrap="square" lIns="0" rIns="0" tIns="0" bIns="0">
            <a:spAutoFit/>
          </a:bodyPr>
          <a:lstStyle/>
          <a:p>
            <a:pPr>
              <a:spcAft>
                <a:spcPts val="700"/>
              </a:spcAft>
              <a:defRPr sz="2200" b="1">
                <a:solidFill>
                  <a:srgbClr val="16796F"/>
                </a:solidFill>
                <a:latin typeface="DejaVu Sans"/>
              </a:defRPr>
            </a:pPr>
            <a:r>
              <a:t>1</a:t>
            </a:r>
          </a:p>
        </p:txBody>
      </p:sp>
      <p:sp>
        <p:nvSpPr>
          <p:cNvPr id="14" name="TextBox 13"/>
          <p:cNvSpPr txBox="1"/>
          <p:nvPr/>
        </p:nvSpPr>
        <p:spPr>
          <a:xfrm>
            <a:off x="4937760" y="2377440"/>
            <a:ext cx="6492240" cy="347472"/>
          </a:xfrm>
          <a:prstGeom prst="rect">
            <a:avLst/>
          </a:prstGeom>
          <a:noFill/>
        </p:spPr>
        <p:txBody>
          <a:bodyPr wrap="square" lIns="0" rIns="0" tIns="0" bIns="0">
            <a:spAutoFit/>
          </a:bodyPr>
          <a:lstStyle/>
          <a:p>
            <a:pPr>
              <a:spcAft>
                <a:spcPts val="700"/>
              </a:spcAft>
              <a:defRPr sz="1900" b="1">
                <a:solidFill>
                  <a:srgbClr val="172D39"/>
                </a:solidFill>
                <a:latin typeface="DejaVu Sans"/>
              </a:defRPr>
            </a:pPr>
            <a:r>
              <a:t>Select mapped destinations</a:t>
            </a:r>
          </a:p>
        </p:txBody>
      </p:sp>
      <p:sp>
        <p:nvSpPr>
          <p:cNvPr id="15" name="TextBox 14"/>
          <p:cNvSpPr txBox="1"/>
          <p:nvPr/>
        </p:nvSpPr>
        <p:spPr>
          <a:xfrm>
            <a:off x="4937760" y="2816352"/>
            <a:ext cx="6492240" cy="594360"/>
          </a:xfrm>
          <a:prstGeom prst="rect">
            <a:avLst/>
          </a:prstGeom>
          <a:noFill/>
        </p:spPr>
        <p:txBody>
          <a:bodyPr wrap="square" lIns="0" rIns="0" tIns="0" bIns="0">
            <a:spAutoFit/>
          </a:bodyPr>
          <a:lstStyle/>
          <a:p>
            <a:pPr>
              <a:spcAft>
                <a:spcPts val="700"/>
              </a:spcAft>
              <a:defRPr sz="1500" b="0">
                <a:solidFill>
                  <a:srgbClr val="5C6C73"/>
                </a:solidFill>
                <a:latin typeface="DejaVu Sans"/>
              </a:defRPr>
            </a:pPr>
            <a:r>
              <a:t>Representative coordinates within each geometric scale.</a:t>
            </a:r>
          </a:p>
        </p:txBody>
      </p:sp>
      <p:sp>
        <p:nvSpPr>
          <p:cNvPr id="16" name="TextBox 15"/>
          <p:cNvSpPr txBox="1"/>
          <p:nvPr/>
        </p:nvSpPr>
        <p:spPr>
          <a:xfrm>
            <a:off x="4480560" y="3429000"/>
            <a:ext cx="365760" cy="411480"/>
          </a:xfrm>
          <a:prstGeom prst="rect">
            <a:avLst/>
          </a:prstGeom>
          <a:noFill/>
        </p:spPr>
        <p:txBody>
          <a:bodyPr wrap="square" lIns="0" rIns="0" tIns="0" bIns="0">
            <a:spAutoFit/>
          </a:bodyPr>
          <a:lstStyle/>
          <a:p>
            <a:pPr>
              <a:spcAft>
                <a:spcPts val="700"/>
              </a:spcAft>
              <a:defRPr sz="2200" b="1">
                <a:solidFill>
                  <a:srgbClr val="16796F"/>
                </a:solidFill>
                <a:latin typeface="DejaVu Sans"/>
              </a:defRPr>
            </a:pPr>
            <a:r>
              <a:t>2</a:t>
            </a:r>
          </a:p>
        </p:txBody>
      </p:sp>
      <p:sp>
        <p:nvSpPr>
          <p:cNvPr id="17" name="TextBox 16"/>
          <p:cNvSpPr txBox="1"/>
          <p:nvPr/>
        </p:nvSpPr>
        <p:spPr>
          <a:xfrm>
            <a:off x="4937760" y="3429000"/>
            <a:ext cx="6492240" cy="347472"/>
          </a:xfrm>
          <a:prstGeom prst="rect">
            <a:avLst/>
          </a:prstGeom>
          <a:noFill/>
        </p:spPr>
        <p:txBody>
          <a:bodyPr wrap="square" lIns="0" rIns="0" tIns="0" bIns="0">
            <a:spAutoFit/>
          </a:bodyPr>
          <a:lstStyle/>
          <a:p>
            <a:pPr>
              <a:spcAft>
                <a:spcPts val="700"/>
              </a:spcAft>
              <a:defRPr sz="1900" b="1">
                <a:solidFill>
                  <a:srgbClr val="172D39"/>
                </a:solidFill>
                <a:latin typeface="DejaVu Sans"/>
              </a:defRPr>
            </a:pPr>
            <a:r>
              <a:t>Calculate network connections and distances</a:t>
            </a:r>
          </a:p>
        </p:txBody>
      </p:sp>
      <p:sp>
        <p:nvSpPr>
          <p:cNvPr id="18" name="TextBox 17"/>
          <p:cNvSpPr txBox="1"/>
          <p:nvPr/>
        </p:nvSpPr>
        <p:spPr>
          <a:xfrm>
            <a:off x="4937760" y="3867912"/>
            <a:ext cx="6492240" cy="594360"/>
          </a:xfrm>
          <a:prstGeom prst="rect">
            <a:avLst/>
          </a:prstGeom>
          <a:noFill/>
        </p:spPr>
        <p:txBody>
          <a:bodyPr wrap="square" lIns="0" rIns="0" tIns="0" bIns="0">
            <a:spAutoFit/>
          </a:bodyPr>
          <a:lstStyle/>
          <a:p>
            <a:pPr>
              <a:spcAft>
                <a:spcPts val="700"/>
              </a:spcAft>
              <a:defRPr sz="1500" b="0">
                <a:solidFill>
                  <a:srgbClr val="5C6C73"/>
                </a:solidFill>
                <a:latin typeface="DejaVu Sans"/>
              </a:defRPr>
            </a:pPr>
            <a:r>
              <a:t>Snapping to the extracted network; Dijkstra shortest paths.</a:t>
            </a:r>
          </a:p>
        </p:txBody>
      </p:sp>
      <p:sp>
        <p:nvSpPr>
          <p:cNvPr id="19" name="TextBox 18"/>
          <p:cNvSpPr txBox="1"/>
          <p:nvPr/>
        </p:nvSpPr>
        <p:spPr>
          <a:xfrm>
            <a:off x="4480560" y="4480560"/>
            <a:ext cx="365760" cy="411480"/>
          </a:xfrm>
          <a:prstGeom prst="rect">
            <a:avLst/>
          </a:prstGeom>
          <a:noFill/>
        </p:spPr>
        <p:txBody>
          <a:bodyPr wrap="square" lIns="0" rIns="0" tIns="0" bIns="0">
            <a:spAutoFit/>
          </a:bodyPr>
          <a:lstStyle/>
          <a:p>
            <a:pPr>
              <a:spcAft>
                <a:spcPts val="700"/>
              </a:spcAft>
              <a:defRPr sz="2200" b="1">
                <a:solidFill>
                  <a:srgbClr val="16796F"/>
                </a:solidFill>
                <a:latin typeface="DejaVu Sans"/>
              </a:defRPr>
            </a:pPr>
            <a:r>
              <a:t>3</a:t>
            </a:r>
          </a:p>
        </p:txBody>
      </p:sp>
      <p:sp>
        <p:nvSpPr>
          <p:cNvPr id="20" name="TextBox 19"/>
          <p:cNvSpPr txBox="1"/>
          <p:nvPr/>
        </p:nvSpPr>
        <p:spPr>
          <a:xfrm>
            <a:off x="4937760" y="4480560"/>
            <a:ext cx="6492240" cy="347472"/>
          </a:xfrm>
          <a:prstGeom prst="rect">
            <a:avLst/>
          </a:prstGeom>
          <a:noFill/>
        </p:spPr>
        <p:txBody>
          <a:bodyPr wrap="square" lIns="0" rIns="0" tIns="0" bIns="0">
            <a:spAutoFit/>
          </a:bodyPr>
          <a:lstStyle/>
          <a:p>
            <a:pPr>
              <a:spcAft>
                <a:spcPts val="700"/>
              </a:spcAft>
              <a:defRPr sz="1900" b="1">
                <a:solidFill>
                  <a:srgbClr val="172D39"/>
                </a:solidFill>
                <a:latin typeface="DejaVu Sans"/>
              </a:defRPr>
            </a:pPr>
            <a:r>
              <a:t>Compare scales and inspect provenance</a:t>
            </a:r>
          </a:p>
        </p:txBody>
      </p:sp>
      <p:sp>
        <p:nvSpPr>
          <p:cNvPr id="21" name="TextBox 20"/>
          <p:cNvSpPr txBox="1"/>
          <p:nvPr/>
        </p:nvSpPr>
        <p:spPr>
          <a:xfrm>
            <a:off x="4937760" y="4919472"/>
            <a:ext cx="6492240" cy="594360"/>
          </a:xfrm>
          <a:prstGeom prst="rect">
            <a:avLst/>
          </a:prstGeom>
          <a:noFill/>
        </p:spPr>
        <p:txBody>
          <a:bodyPr wrap="square" lIns="0" rIns="0" tIns="0" bIns="0">
            <a:spAutoFit/>
          </a:bodyPr>
          <a:lstStyle/>
          <a:p>
            <a:pPr>
              <a:spcAft>
                <a:spcPts val="700"/>
              </a:spcAft>
              <a:defRPr sz="1500" b="0">
                <a:solidFill>
                  <a:srgbClr val="5C6C73"/>
                </a:solidFill>
                <a:latin typeface="DejaVu Sans"/>
              </a:defRPr>
            </a:pPr>
            <a:r>
              <a:t>Main scope: 500 m. Overpass search extent: 800 m.</a:t>
            </a:r>
          </a:p>
        </p:txBody>
      </p:sp>
      <p:sp>
        <p:nvSpPr>
          <p:cNvPr id="22" name="TextBox 21"/>
          <p:cNvSpPr txBox="1"/>
          <p:nvPr/>
        </p:nvSpPr>
        <p:spPr>
          <a:xfrm>
            <a:off x="4480560" y="5623560"/>
            <a:ext cx="7178040" cy="457200"/>
          </a:xfrm>
          <a:prstGeom prst="rect">
            <a:avLst/>
          </a:prstGeom>
          <a:noFill/>
        </p:spPr>
        <p:txBody>
          <a:bodyPr wrap="square" lIns="0" rIns="0" tIns="0" bIns="0">
            <a:spAutoFit/>
          </a:bodyPr>
          <a:lstStyle/>
          <a:p>
            <a:pPr>
              <a:spcAft>
                <a:spcPts val="700"/>
              </a:spcAft>
              <a:defRPr sz="1600" b="1">
                <a:solidFill>
                  <a:srgbClr val="16796F"/>
                </a:solidFill>
                <a:latin typeface="DejaVu Sans"/>
              </a:defRPr>
            </a:pPr>
            <a:r>
              <a:t>Geometric radius ≠ network distance ≠ physical route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QUANTITATIVE FINDINGS</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Connectivity is not the same as route length</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Reported values across geometric analysis scales.</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04 / 07</a:t>
            </a:r>
          </a:p>
        </p:txBody>
      </p:sp>
      <p:sp>
        <p:nvSpPr>
          <p:cNvPr id="8" name="TextBox 7"/>
          <p:cNvSpPr txBox="1"/>
          <p:nvPr/>
        </p:nvSpPr>
        <p:spPr>
          <a:xfrm>
            <a:off x="502920" y="2240280"/>
            <a:ext cx="5394960" cy="320040"/>
          </a:xfrm>
          <a:prstGeom prst="rect">
            <a:avLst/>
          </a:prstGeom>
          <a:noFill/>
        </p:spPr>
        <p:txBody>
          <a:bodyPr wrap="square" lIns="0" rIns="0" tIns="0" bIns="0">
            <a:spAutoFit/>
          </a:bodyPr>
          <a:lstStyle/>
          <a:p>
            <a:pPr>
              <a:spcAft>
                <a:spcPts val="700"/>
              </a:spcAft>
              <a:defRPr sz="1200" b="1">
                <a:solidFill>
                  <a:srgbClr val="16796F"/>
                </a:solidFill>
                <a:latin typeface="DejaVu Sans"/>
              </a:defRPr>
            </a:pPr>
            <a:r>
              <a:t>DESTINATIONS &amp; MODEL CONNECTIONS</a:t>
            </a:r>
          </a:p>
        </p:txBody>
      </p:sp>
      <p:sp>
        <p:nvSpPr>
          <p:cNvPr id="9" name="Rectangle 8"/>
          <p:cNvSpPr/>
          <p:nvPr/>
        </p:nvSpPr>
        <p:spPr>
          <a:xfrm>
            <a:off x="502920" y="2697480"/>
            <a:ext cx="100584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807208"/>
            <a:ext cx="82296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Scale</a:t>
            </a:r>
          </a:p>
        </p:txBody>
      </p:sp>
      <p:sp>
        <p:nvSpPr>
          <p:cNvPr id="11" name="Rectangle 10"/>
          <p:cNvSpPr/>
          <p:nvPr/>
        </p:nvSpPr>
        <p:spPr>
          <a:xfrm>
            <a:off x="1508760" y="2697480"/>
            <a:ext cx="123444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18488" y="2807208"/>
            <a:ext cx="105156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Mapped</a:t>
            </a:r>
          </a:p>
        </p:txBody>
      </p:sp>
      <p:sp>
        <p:nvSpPr>
          <p:cNvPr id="13" name="Rectangle 12"/>
          <p:cNvSpPr/>
          <p:nvPr/>
        </p:nvSpPr>
        <p:spPr>
          <a:xfrm>
            <a:off x="2743200" y="2697480"/>
            <a:ext cx="128016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52928" y="2807208"/>
            <a:ext cx="109728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Connected</a:t>
            </a:r>
          </a:p>
        </p:txBody>
      </p:sp>
      <p:sp>
        <p:nvSpPr>
          <p:cNvPr id="15" name="Rectangle 14"/>
          <p:cNvSpPr/>
          <p:nvPr/>
        </p:nvSpPr>
        <p:spPr>
          <a:xfrm>
            <a:off x="4023360" y="2697480"/>
            <a:ext cx="160020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33088" y="2807208"/>
            <a:ext cx="141732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Ratio</a:t>
            </a:r>
          </a:p>
        </p:txBody>
      </p:sp>
      <p:sp>
        <p:nvSpPr>
          <p:cNvPr id="17" name="Rectangle 16"/>
          <p:cNvSpPr/>
          <p:nvPr/>
        </p:nvSpPr>
        <p:spPr>
          <a:xfrm>
            <a:off x="502920" y="3264408"/>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419856"/>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300 m</a:t>
            </a:r>
          </a:p>
        </p:txBody>
      </p:sp>
      <p:sp>
        <p:nvSpPr>
          <p:cNvPr id="19" name="Rectangle 18"/>
          <p:cNvSpPr/>
          <p:nvPr/>
        </p:nvSpPr>
        <p:spPr>
          <a:xfrm>
            <a:off x="1508760" y="3264408"/>
            <a:ext cx="12344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18488" y="3419856"/>
            <a:ext cx="10515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59</a:t>
            </a:r>
          </a:p>
        </p:txBody>
      </p:sp>
      <p:sp>
        <p:nvSpPr>
          <p:cNvPr id="21" name="Rectangle 20"/>
          <p:cNvSpPr/>
          <p:nvPr/>
        </p:nvSpPr>
        <p:spPr>
          <a:xfrm>
            <a:off x="2743200" y="3264408"/>
            <a:ext cx="12801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2928" y="3419856"/>
            <a:ext cx="109728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59</a:t>
            </a:r>
          </a:p>
        </p:txBody>
      </p:sp>
      <p:sp>
        <p:nvSpPr>
          <p:cNvPr id="23" name="Rectangle 22"/>
          <p:cNvSpPr/>
          <p:nvPr/>
        </p:nvSpPr>
        <p:spPr>
          <a:xfrm>
            <a:off x="4023360" y="3264408"/>
            <a:ext cx="16002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33088" y="3419856"/>
            <a:ext cx="141732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100%</a:t>
            </a:r>
          </a:p>
        </p:txBody>
      </p:sp>
      <p:sp>
        <p:nvSpPr>
          <p:cNvPr id="25" name="Rectangle 24"/>
          <p:cNvSpPr/>
          <p:nvPr/>
        </p:nvSpPr>
        <p:spPr>
          <a:xfrm>
            <a:off x="502920" y="3831336"/>
            <a:ext cx="100584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3986784"/>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500 m</a:t>
            </a:r>
          </a:p>
        </p:txBody>
      </p:sp>
      <p:sp>
        <p:nvSpPr>
          <p:cNvPr id="27" name="Rectangle 26"/>
          <p:cNvSpPr/>
          <p:nvPr/>
        </p:nvSpPr>
        <p:spPr>
          <a:xfrm>
            <a:off x="1508760" y="3831336"/>
            <a:ext cx="123444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18488" y="3986784"/>
            <a:ext cx="10515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88</a:t>
            </a:r>
          </a:p>
        </p:txBody>
      </p:sp>
      <p:sp>
        <p:nvSpPr>
          <p:cNvPr id="29" name="Rectangle 28"/>
          <p:cNvSpPr/>
          <p:nvPr/>
        </p:nvSpPr>
        <p:spPr>
          <a:xfrm>
            <a:off x="2743200" y="3831336"/>
            <a:ext cx="128016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2928" y="3986784"/>
            <a:ext cx="109728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88</a:t>
            </a:r>
          </a:p>
        </p:txBody>
      </p:sp>
      <p:sp>
        <p:nvSpPr>
          <p:cNvPr id="31" name="Rectangle 30"/>
          <p:cNvSpPr/>
          <p:nvPr/>
        </p:nvSpPr>
        <p:spPr>
          <a:xfrm>
            <a:off x="4023360" y="3831336"/>
            <a:ext cx="160020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3088" y="3986784"/>
            <a:ext cx="141732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100%</a:t>
            </a:r>
          </a:p>
        </p:txBody>
      </p:sp>
      <p:sp>
        <p:nvSpPr>
          <p:cNvPr id="33" name="Rectangle 32"/>
          <p:cNvSpPr/>
          <p:nvPr/>
        </p:nvSpPr>
        <p:spPr>
          <a:xfrm>
            <a:off x="502920" y="4398264"/>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4553712"/>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800 m</a:t>
            </a:r>
          </a:p>
        </p:txBody>
      </p:sp>
      <p:sp>
        <p:nvSpPr>
          <p:cNvPr id="35" name="Rectangle 34"/>
          <p:cNvSpPr/>
          <p:nvPr/>
        </p:nvSpPr>
        <p:spPr>
          <a:xfrm>
            <a:off x="1508760" y="4398264"/>
            <a:ext cx="12344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18488" y="4553712"/>
            <a:ext cx="10515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177</a:t>
            </a:r>
          </a:p>
        </p:txBody>
      </p:sp>
      <p:sp>
        <p:nvSpPr>
          <p:cNvPr id="37" name="Rectangle 36"/>
          <p:cNvSpPr/>
          <p:nvPr/>
        </p:nvSpPr>
        <p:spPr>
          <a:xfrm>
            <a:off x="2743200" y="4398264"/>
            <a:ext cx="12801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2928" y="4553712"/>
            <a:ext cx="109728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164</a:t>
            </a:r>
          </a:p>
        </p:txBody>
      </p:sp>
      <p:sp>
        <p:nvSpPr>
          <p:cNvPr id="39" name="Rectangle 38"/>
          <p:cNvSpPr/>
          <p:nvPr/>
        </p:nvSpPr>
        <p:spPr>
          <a:xfrm>
            <a:off x="4023360" y="4398264"/>
            <a:ext cx="16002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33088" y="4553712"/>
            <a:ext cx="141732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92.7%</a:t>
            </a:r>
          </a:p>
        </p:txBody>
      </p:sp>
      <p:sp>
        <p:nvSpPr>
          <p:cNvPr id="41" name="TextBox 40"/>
          <p:cNvSpPr txBox="1"/>
          <p:nvPr/>
        </p:nvSpPr>
        <p:spPr>
          <a:xfrm>
            <a:off x="5989320" y="2240280"/>
            <a:ext cx="5577840" cy="320040"/>
          </a:xfrm>
          <a:prstGeom prst="rect">
            <a:avLst/>
          </a:prstGeom>
          <a:noFill/>
        </p:spPr>
        <p:txBody>
          <a:bodyPr wrap="square" lIns="0" rIns="0" tIns="0" bIns="0">
            <a:spAutoFit/>
          </a:bodyPr>
          <a:lstStyle/>
          <a:p>
            <a:pPr>
              <a:spcAft>
                <a:spcPts val="700"/>
              </a:spcAft>
              <a:defRPr sz="1200" b="1">
                <a:solidFill>
                  <a:srgbClr val="16796F"/>
                </a:solidFill>
                <a:latin typeface="DejaVu Sans"/>
              </a:defRPr>
            </a:pPr>
            <a:r>
              <a:t>NETWORK DISTANCE (m) &amp; MEAN DETOUR</a:t>
            </a:r>
          </a:p>
        </p:txBody>
      </p:sp>
      <p:sp>
        <p:nvSpPr>
          <p:cNvPr id="42" name="Rectangle 41"/>
          <p:cNvSpPr/>
          <p:nvPr/>
        </p:nvSpPr>
        <p:spPr>
          <a:xfrm>
            <a:off x="5989320" y="2697480"/>
            <a:ext cx="100584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8" y="2807208"/>
            <a:ext cx="82296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Scale</a:t>
            </a:r>
          </a:p>
        </p:txBody>
      </p:sp>
      <p:sp>
        <p:nvSpPr>
          <p:cNvPr id="44" name="Rectangle 43"/>
          <p:cNvSpPr/>
          <p:nvPr/>
        </p:nvSpPr>
        <p:spPr>
          <a:xfrm>
            <a:off x="6995160" y="2697480"/>
            <a:ext cx="96012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04888" y="2807208"/>
            <a:ext cx="77724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Mean</a:t>
            </a:r>
          </a:p>
        </p:txBody>
      </p:sp>
      <p:sp>
        <p:nvSpPr>
          <p:cNvPr id="46" name="Rectangle 45"/>
          <p:cNvSpPr/>
          <p:nvPr/>
        </p:nvSpPr>
        <p:spPr>
          <a:xfrm>
            <a:off x="7955279" y="2697480"/>
            <a:ext cx="109728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65007" y="2807208"/>
            <a:ext cx="91440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Median</a:t>
            </a:r>
          </a:p>
        </p:txBody>
      </p:sp>
      <p:sp>
        <p:nvSpPr>
          <p:cNvPr id="48" name="Rectangle 47"/>
          <p:cNvSpPr/>
          <p:nvPr/>
        </p:nvSpPr>
        <p:spPr>
          <a:xfrm>
            <a:off x="9052560" y="2697480"/>
            <a:ext cx="100584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62288" y="2807208"/>
            <a:ext cx="82296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P90</a:t>
            </a:r>
          </a:p>
        </p:txBody>
      </p:sp>
      <p:sp>
        <p:nvSpPr>
          <p:cNvPr id="50" name="Rectangle 49"/>
          <p:cNvSpPr/>
          <p:nvPr/>
        </p:nvSpPr>
        <p:spPr>
          <a:xfrm>
            <a:off x="10058400" y="2697480"/>
            <a:ext cx="1417320" cy="566928"/>
          </a:xfrm>
          <a:prstGeom prst="rect">
            <a:avLst/>
          </a:prstGeom>
          <a:solidFill>
            <a:srgbClr val="17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68128" y="2807208"/>
            <a:ext cx="1234440" cy="411480"/>
          </a:xfrm>
          <a:prstGeom prst="rect">
            <a:avLst/>
          </a:prstGeom>
          <a:noFill/>
        </p:spPr>
        <p:txBody>
          <a:bodyPr wrap="square" lIns="0" rIns="0" tIns="0" bIns="0">
            <a:spAutoFit/>
          </a:bodyPr>
          <a:lstStyle/>
          <a:p>
            <a:pPr>
              <a:spcAft>
                <a:spcPts val="700"/>
              </a:spcAft>
              <a:defRPr sz="1300" b="1">
                <a:solidFill>
                  <a:srgbClr val="FFFFFF"/>
                </a:solidFill>
                <a:latin typeface="DejaVu Sans"/>
              </a:defRPr>
            </a:pPr>
            <a:r>
              <a:t>Detour</a:t>
            </a:r>
          </a:p>
        </p:txBody>
      </p:sp>
      <p:sp>
        <p:nvSpPr>
          <p:cNvPr id="52" name="Rectangle 51"/>
          <p:cNvSpPr/>
          <p:nvPr/>
        </p:nvSpPr>
        <p:spPr>
          <a:xfrm>
            <a:off x="5989320" y="3264408"/>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99048" y="3419856"/>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300 m</a:t>
            </a:r>
          </a:p>
        </p:txBody>
      </p:sp>
      <p:sp>
        <p:nvSpPr>
          <p:cNvPr id="54" name="Rectangle 53"/>
          <p:cNvSpPr/>
          <p:nvPr/>
        </p:nvSpPr>
        <p:spPr>
          <a:xfrm>
            <a:off x="6995160" y="3264408"/>
            <a:ext cx="960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04888" y="3419856"/>
            <a:ext cx="7772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254</a:t>
            </a:r>
          </a:p>
        </p:txBody>
      </p:sp>
      <p:sp>
        <p:nvSpPr>
          <p:cNvPr id="56" name="Rectangle 55"/>
          <p:cNvSpPr/>
          <p:nvPr/>
        </p:nvSpPr>
        <p:spPr>
          <a:xfrm>
            <a:off x="7955279" y="3264408"/>
            <a:ext cx="10972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65007" y="3419856"/>
            <a:ext cx="91440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210</a:t>
            </a:r>
          </a:p>
        </p:txBody>
      </p:sp>
      <p:sp>
        <p:nvSpPr>
          <p:cNvPr id="58" name="Rectangle 57"/>
          <p:cNvSpPr/>
          <p:nvPr/>
        </p:nvSpPr>
        <p:spPr>
          <a:xfrm>
            <a:off x="9052560" y="3264408"/>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62288" y="3419856"/>
            <a:ext cx="8229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506</a:t>
            </a:r>
          </a:p>
        </p:txBody>
      </p:sp>
      <p:sp>
        <p:nvSpPr>
          <p:cNvPr id="60" name="Rectangle 59"/>
          <p:cNvSpPr/>
          <p:nvPr/>
        </p:nvSpPr>
        <p:spPr>
          <a:xfrm>
            <a:off x="10058400" y="3264408"/>
            <a:ext cx="14173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68128" y="3419856"/>
            <a:ext cx="12344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1.67</a:t>
            </a:r>
          </a:p>
        </p:txBody>
      </p:sp>
      <p:sp>
        <p:nvSpPr>
          <p:cNvPr id="62" name="Rectangle 61"/>
          <p:cNvSpPr/>
          <p:nvPr/>
        </p:nvSpPr>
        <p:spPr>
          <a:xfrm>
            <a:off x="5989320" y="3831336"/>
            <a:ext cx="100584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99048" y="3986784"/>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500 m</a:t>
            </a:r>
          </a:p>
        </p:txBody>
      </p:sp>
      <p:sp>
        <p:nvSpPr>
          <p:cNvPr id="64" name="Rectangle 63"/>
          <p:cNvSpPr/>
          <p:nvPr/>
        </p:nvSpPr>
        <p:spPr>
          <a:xfrm>
            <a:off x="6995160" y="3831336"/>
            <a:ext cx="96012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04888" y="3986784"/>
            <a:ext cx="7772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392</a:t>
            </a:r>
          </a:p>
        </p:txBody>
      </p:sp>
      <p:sp>
        <p:nvSpPr>
          <p:cNvPr id="66" name="Rectangle 65"/>
          <p:cNvSpPr/>
          <p:nvPr/>
        </p:nvSpPr>
        <p:spPr>
          <a:xfrm>
            <a:off x="7955279" y="3831336"/>
            <a:ext cx="109728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65007" y="3986784"/>
            <a:ext cx="91440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288</a:t>
            </a:r>
          </a:p>
        </p:txBody>
      </p:sp>
      <p:sp>
        <p:nvSpPr>
          <p:cNvPr id="68" name="Rectangle 67"/>
          <p:cNvSpPr/>
          <p:nvPr/>
        </p:nvSpPr>
        <p:spPr>
          <a:xfrm>
            <a:off x="9052560" y="3831336"/>
            <a:ext cx="100584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62288" y="3986784"/>
            <a:ext cx="8229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829</a:t>
            </a:r>
          </a:p>
        </p:txBody>
      </p:sp>
      <p:sp>
        <p:nvSpPr>
          <p:cNvPr id="70" name="Rectangle 69"/>
          <p:cNvSpPr/>
          <p:nvPr/>
        </p:nvSpPr>
        <p:spPr>
          <a:xfrm>
            <a:off x="10058400" y="3831336"/>
            <a:ext cx="1417320" cy="566928"/>
          </a:xfrm>
          <a:prstGeom prst="rect">
            <a:avLst/>
          </a:prstGeom>
          <a:solidFill>
            <a:srgbClr val="E8ED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168128" y="3986784"/>
            <a:ext cx="12344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1.64</a:t>
            </a:r>
          </a:p>
        </p:txBody>
      </p:sp>
      <p:sp>
        <p:nvSpPr>
          <p:cNvPr id="72" name="Rectangle 71"/>
          <p:cNvSpPr/>
          <p:nvPr/>
        </p:nvSpPr>
        <p:spPr>
          <a:xfrm>
            <a:off x="5989320" y="4398264"/>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99048" y="4553712"/>
            <a:ext cx="8229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800 m</a:t>
            </a:r>
          </a:p>
        </p:txBody>
      </p:sp>
      <p:sp>
        <p:nvSpPr>
          <p:cNvPr id="74" name="Rectangle 73"/>
          <p:cNvSpPr/>
          <p:nvPr/>
        </p:nvSpPr>
        <p:spPr>
          <a:xfrm>
            <a:off x="6995160" y="4398264"/>
            <a:ext cx="960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04888" y="4553712"/>
            <a:ext cx="7772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610</a:t>
            </a:r>
          </a:p>
        </p:txBody>
      </p:sp>
      <p:sp>
        <p:nvSpPr>
          <p:cNvPr id="76" name="Rectangle 75"/>
          <p:cNvSpPr/>
          <p:nvPr/>
        </p:nvSpPr>
        <p:spPr>
          <a:xfrm>
            <a:off x="7955279" y="4398264"/>
            <a:ext cx="109728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65007" y="4553712"/>
            <a:ext cx="91440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650</a:t>
            </a:r>
          </a:p>
        </p:txBody>
      </p:sp>
      <p:sp>
        <p:nvSpPr>
          <p:cNvPr id="78" name="Rectangle 77"/>
          <p:cNvSpPr/>
          <p:nvPr/>
        </p:nvSpPr>
        <p:spPr>
          <a:xfrm>
            <a:off x="9052560" y="4398264"/>
            <a:ext cx="10058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162288" y="4553712"/>
            <a:ext cx="82296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1063</a:t>
            </a:r>
          </a:p>
        </p:txBody>
      </p:sp>
      <p:sp>
        <p:nvSpPr>
          <p:cNvPr id="80" name="Rectangle 79"/>
          <p:cNvSpPr/>
          <p:nvPr/>
        </p:nvSpPr>
        <p:spPr>
          <a:xfrm>
            <a:off x="10058400" y="4398264"/>
            <a:ext cx="14173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168128" y="4553712"/>
            <a:ext cx="1234440" cy="365760"/>
          </a:xfrm>
          <a:prstGeom prst="rect">
            <a:avLst/>
          </a:prstGeom>
          <a:noFill/>
        </p:spPr>
        <p:txBody>
          <a:bodyPr wrap="square" lIns="0" rIns="0" tIns="0" bIns="0">
            <a:spAutoFit/>
          </a:bodyPr>
          <a:lstStyle/>
          <a:p>
            <a:pPr>
              <a:spcAft>
                <a:spcPts val="700"/>
              </a:spcAft>
              <a:defRPr sz="1700" b="0">
                <a:solidFill>
                  <a:srgbClr val="172D39"/>
                </a:solidFill>
                <a:latin typeface="DejaVu Sans"/>
              </a:defRPr>
            </a:pPr>
            <a:r>
              <a:t>1.51</a:t>
            </a:r>
          </a:p>
        </p:txBody>
      </p:sp>
      <p:sp>
        <p:nvSpPr>
          <p:cNvPr id="82" name="TextBox 81"/>
          <p:cNvSpPr txBox="1"/>
          <p:nvPr/>
        </p:nvSpPr>
        <p:spPr>
          <a:xfrm>
            <a:off x="502920" y="5212080"/>
            <a:ext cx="11064240" cy="7315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Connection ratio: connected / all mapped destinations in the same scale.</a:t>
            </a:r>
          </a:p>
          <a:p>
            <a:pPr>
              <a:spcAft>
                <a:spcPts val="700"/>
              </a:spcAft>
              <a:defRPr sz="1600" b="0">
                <a:solidFill>
                  <a:srgbClr val="5C6C73"/>
                </a:solidFill>
                <a:latin typeface="DejaVu Sans"/>
              </a:defRPr>
            </a:pPr>
            <a:r>
              <a:t>Distance summaries: connected destinations only (n = 59 / 88 / 164).</a:t>
            </a:r>
          </a:p>
        </p:txBody>
      </p:sp>
      <p:sp>
        <p:nvSpPr>
          <p:cNvPr id="83" name="TextBox 82"/>
          <p:cNvSpPr txBox="1"/>
          <p:nvPr/>
        </p:nvSpPr>
        <p:spPr>
          <a:xfrm>
            <a:off x="502920" y="6035040"/>
            <a:ext cx="11064240" cy="256032"/>
          </a:xfrm>
          <a:prstGeom prst="rect">
            <a:avLst/>
          </a:prstGeom>
          <a:noFill/>
        </p:spPr>
        <p:txBody>
          <a:bodyPr wrap="square" lIns="0" rIns="0" tIns="0" bIns="0">
            <a:spAutoFit/>
          </a:bodyPr>
          <a:lstStyle/>
          <a:p>
            <a:pPr>
              <a:spcAft>
                <a:spcPts val="700"/>
              </a:spcAft>
              <a:defRPr sz="1400" b="1">
                <a:solidFill>
                  <a:srgbClr val="16796F"/>
                </a:solidFill>
                <a:latin typeface="DejaVu Sans"/>
              </a:defRPr>
            </a:pPr>
            <a:r>
              <a:t>Network distance does not establish travel time, safety or physical sidewalk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BOUNDARIES OF EVIDENCE</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Missing sidewalk evidence is a central finding</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Reported aggregate tagging profile by length — not physical sidewalk coverage.</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05 / 07</a:t>
            </a:r>
          </a:p>
        </p:txBody>
      </p:sp>
      <p:sp>
        <p:nvSpPr>
          <p:cNvPr id="8" name="TextBox 7"/>
          <p:cNvSpPr txBox="1"/>
          <p:nvPr/>
        </p:nvSpPr>
        <p:spPr>
          <a:xfrm>
            <a:off x="502920" y="2286000"/>
            <a:ext cx="3931920" cy="64008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98.9% unknown</a:t>
            </a:r>
          </a:p>
        </p:txBody>
      </p:sp>
      <p:sp>
        <p:nvSpPr>
          <p:cNvPr id="9" name="TextBox 8"/>
          <p:cNvSpPr txBox="1"/>
          <p:nvPr/>
        </p:nvSpPr>
        <p:spPr>
          <a:xfrm>
            <a:off x="4663440" y="2423160"/>
            <a:ext cx="6858000" cy="411480"/>
          </a:xfrm>
          <a:prstGeom prst="rect">
            <a:avLst/>
          </a:prstGeom>
          <a:noFill/>
        </p:spPr>
        <p:txBody>
          <a:bodyPr wrap="square" lIns="0" rIns="0" tIns="0" bIns="0">
            <a:spAutoFit/>
          </a:bodyPr>
          <a:lstStyle/>
          <a:p>
            <a:pPr>
              <a:spcAft>
                <a:spcPts val="700"/>
              </a:spcAft>
              <a:defRPr sz="1900" b="1">
                <a:solidFill>
                  <a:srgbClr val="16796F"/>
                </a:solidFill>
                <a:latin typeface="DejaVu Sans"/>
              </a:defRPr>
            </a:pPr>
            <a:r>
              <a:t>1.1% known sidewalk-tag information</a:t>
            </a:r>
          </a:p>
        </p:txBody>
      </p:sp>
      <p:sp>
        <p:nvSpPr>
          <p:cNvPr id="10" name="Rectangle 9"/>
          <p:cNvSpPr/>
          <p:nvPr/>
        </p:nvSpPr>
        <p:spPr>
          <a:xfrm>
            <a:off x="502920" y="3063240"/>
            <a:ext cx="11155680" cy="182880"/>
          </a:xfrm>
          <a:prstGeom prst="rect">
            <a:avLst/>
          </a:prstGeom>
          <a:solidFill>
            <a:srgbClr val="D3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063240"/>
            <a:ext cx="122712" cy="182880"/>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61188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SCORE ≠ PHYSICAL QUALITY</a:t>
            </a:r>
          </a:p>
        </p:txBody>
      </p:sp>
      <p:sp>
        <p:nvSpPr>
          <p:cNvPr id="13" name="TextBox 12"/>
          <p:cNvSpPr txBox="1"/>
          <p:nvPr/>
        </p:nvSpPr>
        <p:spPr>
          <a:xfrm>
            <a:off x="502920" y="397764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Legacy score 100 does not prove sidewalk quality.</a:t>
            </a:r>
          </a:p>
        </p:txBody>
      </p:sp>
      <p:sp>
        <p:nvSpPr>
          <p:cNvPr id="14" name="TextBox 13"/>
          <p:cNvSpPr txBox="1"/>
          <p:nvPr/>
        </p:nvSpPr>
        <p:spPr>
          <a:xfrm>
            <a:off x="4343400" y="361188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13 NON-CONNECTIONS</a:t>
            </a:r>
          </a:p>
        </p:txBody>
      </p:sp>
      <p:sp>
        <p:nvSpPr>
          <p:cNvPr id="15" name="TextBox 14"/>
          <p:cNvSpPr txBox="1"/>
          <p:nvPr/>
        </p:nvSpPr>
        <p:spPr>
          <a:xfrm>
            <a:off x="4343400" y="397764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Cause unknown; not a confirmed network defect.</a:t>
            </a:r>
          </a:p>
        </p:txBody>
      </p:sp>
      <p:sp>
        <p:nvSpPr>
          <p:cNvPr id="16" name="TextBox 15"/>
          <p:cNvSpPr txBox="1"/>
          <p:nvPr/>
        </p:nvSpPr>
        <p:spPr>
          <a:xfrm>
            <a:off x="8183880" y="361188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CONFIDENCE DISCREPANCY</a:t>
            </a:r>
          </a:p>
        </p:txBody>
      </p:sp>
      <p:sp>
        <p:nvSpPr>
          <p:cNvPr id="17" name="TextBox 16"/>
          <p:cNvSpPr txBox="1"/>
          <p:nvPr/>
        </p:nvSpPr>
        <p:spPr>
          <a:xfrm>
            <a:off x="8183880" y="397764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0.87 vs 0.0 observed; cause and fix unproven.</a:t>
            </a:r>
          </a:p>
        </p:txBody>
      </p:sp>
      <p:sp>
        <p:nvSpPr>
          <p:cNvPr id="18" name="TextBox 17"/>
          <p:cNvSpPr txBox="1"/>
          <p:nvPr/>
        </p:nvSpPr>
        <p:spPr>
          <a:xfrm>
            <a:off x="502920" y="489204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UNKNOWN IN THE REAL WORLD</a:t>
            </a:r>
          </a:p>
        </p:txBody>
      </p:sp>
      <p:sp>
        <p:nvSpPr>
          <p:cNvPr id="19" name="TextBox 18"/>
          <p:cNvSpPr txBox="1"/>
          <p:nvPr/>
        </p:nvSpPr>
        <p:spPr>
          <a:xfrm>
            <a:off x="502920" y="525780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Service completeness, route quality and square-centre alignment.</a:t>
            </a:r>
          </a:p>
        </p:txBody>
      </p:sp>
      <p:sp>
        <p:nvSpPr>
          <p:cNvPr id="20" name="TextBox 19"/>
          <p:cNvSpPr txBox="1"/>
          <p:nvPr/>
        </p:nvSpPr>
        <p:spPr>
          <a:xfrm>
            <a:off x="4343400" y="489204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EMPTY OUTPUT ≠ NO ISSUE</a:t>
            </a:r>
          </a:p>
        </p:txBody>
      </p:sp>
      <p:sp>
        <p:nvSpPr>
          <p:cNvPr id="21" name="TextBox 20"/>
          <p:cNvSpPr txBox="1"/>
          <p:nvPr/>
        </p:nvSpPr>
        <p:spPr>
          <a:xfrm>
            <a:off x="4343400" y="525780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Empty diagnosis / recommendations do not establish absence of problems.</a:t>
            </a:r>
          </a:p>
        </p:txBody>
      </p:sp>
      <p:sp>
        <p:nvSpPr>
          <p:cNvPr id="22" name="TextBox 21"/>
          <p:cNvSpPr txBox="1"/>
          <p:nvPr/>
        </p:nvSpPr>
        <p:spPr>
          <a:xfrm>
            <a:off x="8183880" y="4892040"/>
            <a:ext cx="3520440" cy="27432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VALIDATION NOT ESTABLISHED</a:t>
            </a:r>
          </a:p>
        </p:txBody>
      </p:sp>
      <p:sp>
        <p:nvSpPr>
          <p:cNvPr id="23" name="TextBox 22"/>
          <p:cNvSpPr txBox="1"/>
          <p:nvPr/>
        </p:nvSpPr>
        <p:spPr>
          <a:xfrm>
            <a:off x="8183880" y="5257800"/>
            <a:ext cx="3520440" cy="804672"/>
          </a:xfrm>
          <a:prstGeom prst="rect">
            <a:avLst/>
          </a:prstGeom>
          <a:noFill/>
        </p:spPr>
        <p:txBody>
          <a:bodyPr wrap="square" lIns="0" rIns="0" tIns="0" bIns="0">
            <a:spAutoFit/>
          </a:bodyPr>
          <a:lstStyle/>
          <a:p>
            <a:pPr>
              <a:spcAft>
                <a:spcPts val="700"/>
              </a:spcAft>
              <a:defRPr sz="1600" b="0">
                <a:solidFill>
                  <a:srgbClr val="172D39"/>
                </a:solidFill>
                <a:latin typeface="DejaVu Sans"/>
              </a:defRPr>
            </a:pPr>
            <a:r>
              <a:t>No field validation; historical ACCESSIBILITY golden equivalence unproven.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DECISION SUPPORT</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Make the expert review easier to organise</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Demonstrated capabilities: spatial analysis, network interpretation and traceable reporting.</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06 / 07</a:t>
            </a:r>
          </a:p>
        </p:txBody>
      </p:sp>
      <p:sp>
        <p:nvSpPr>
          <p:cNvPr id="8" name="Rectangle 7"/>
          <p:cNvSpPr/>
          <p:nvPr/>
        </p:nvSpPr>
        <p:spPr>
          <a:xfrm>
            <a:off x="502920" y="2514600"/>
            <a:ext cx="256032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2194560" cy="502920"/>
          </a:xfrm>
          <a:prstGeom prst="rect">
            <a:avLst/>
          </a:prstGeom>
          <a:noFill/>
        </p:spPr>
        <p:txBody>
          <a:bodyPr wrap="square" lIns="0" rIns="0" tIns="0" bIns="0">
            <a:spAutoFit/>
          </a:bodyPr>
          <a:lstStyle/>
          <a:p>
            <a:pPr>
              <a:spcAft>
                <a:spcPts val="700"/>
              </a:spcAft>
              <a:defRPr sz="2800" b="1">
                <a:solidFill>
                  <a:srgbClr val="16796F"/>
                </a:solidFill>
                <a:latin typeface="DejaVu Sans"/>
              </a:defRPr>
            </a:pPr>
            <a:r>
              <a:t>01</a:t>
            </a:r>
          </a:p>
        </p:txBody>
      </p:sp>
      <p:sp>
        <p:nvSpPr>
          <p:cNvPr id="10" name="TextBox 9"/>
          <p:cNvSpPr txBox="1"/>
          <p:nvPr/>
        </p:nvSpPr>
        <p:spPr>
          <a:xfrm>
            <a:off x="685800" y="3429000"/>
            <a:ext cx="21945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FRAME</a:t>
            </a:r>
          </a:p>
        </p:txBody>
      </p:sp>
      <p:sp>
        <p:nvSpPr>
          <p:cNvPr id="11" name="TextBox 10"/>
          <p:cNvSpPr txBox="1"/>
          <p:nvPr/>
        </p:nvSpPr>
        <p:spPr>
          <a:xfrm>
            <a:off x="685800" y="3977639"/>
            <a:ext cx="2194560" cy="731520"/>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Question + analysis scope</a:t>
            </a:r>
          </a:p>
        </p:txBody>
      </p:sp>
      <p:sp>
        <p:nvSpPr>
          <p:cNvPr id="12" name="Rectangle 11"/>
          <p:cNvSpPr/>
          <p:nvPr/>
        </p:nvSpPr>
        <p:spPr>
          <a:xfrm>
            <a:off x="3337560" y="2514600"/>
            <a:ext cx="256032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697480"/>
            <a:ext cx="2194560" cy="502920"/>
          </a:xfrm>
          <a:prstGeom prst="rect">
            <a:avLst/>
          </a:prstGeom>
          <a:noFill/>
        </p:spPr>
        <p:txBody>
          <a:bodyPr wrap="square" lIns="0" rIns="0" tIns="0" bIns="0">
            <a:spAutoFit/>
          </a:bodyPr>
          <a:lstStyle/>
          <a:p>
            <a:pPr>
              <a:spcAft>
                <a:spcPts val="700"/>
              </a:spcAft>
              <a:defRPr sz="2800" b="1">
                <a:solidFill>
                  <a:srgbClr val="16796F"/>
                </a:solidFill>
                <a:latin typeface="DejaVu Sans"/>
              </a:defRPr>
            </a:pPr>
            <a:r>
              <a:t>02</a:t>
            </a:r>
          </a:p>
        </p:txBody>
      </p:sp>
      <p:sp>
        <p:nvSpPr>
          <p:cNvPr id="14" name="TextBox 13"/>
          <p:cNvSpPr txBox="1"/>
          <p:nvPr/>
        </p:nvSpPr>
        <p:spPr>
          <a:xfrm>
            <a:off x="3520440" y="3429000"/>
            <a:ext cx="21945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ASSEMBLE</a:t>
            </a:r>
          </a:p>
        </p:txBody>
      </p:sp>
      <p:sp>
        <p:nvSpPr>
          <p:cNvPr id="15" name="TextBox 14"/>
          <p:cNvSpPr txBox="1"/>
          <p:nvPr/>
        </p:nvSpPr>
        <p:spPr>
          <a:xfrm>
            <a:off x="3520440" y="3977639"/>
            <a:ext cx="2194560" cy="731520"/>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Indicators + available evidence</a:t>
            </a:r>
          </a:p>
        </p:txBody>
      </p:sp>
      <p:sp>
        <p:nvSpPr>
          <p:cNvPr id="16" name="Rectangle 15"/>
          <p:cNvSpPr/>
          <p:nvPr/>
        </p:nvSpPr>
        <p:spPr>
          <a:xfrm>
            <a:off x="6172200" y="2514600"/>
            <a:ext cx="256032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697480"/>
            <a:ext cx="2194560" cy="502920"/>
          </a:xfrm>
          <a:prstGeom prst="rect">
            <a:avLst/>
          </a:prstGeom>
          <a:noFill/>
        </p:spPr>
        <p:txBody>
          <a:bodyPr wrap="square" lIns="0" rIns="0" tIns="0" bIns="0">
            <a:spAutoFit/>
          </a:bodyPr>
          <a:lstStyle/>
          <a:p>
            <a:pPr>
              <a:spcAft>
                <a:spcPts val="700"/>
              </a:spcAft>
              <a:defRPr sz="2800" b="1">
                <a:solidFill>
                  <a:srgbClr val="16796F"/>
                </a:solidFill>
                <a:latin typeface="DejaVu Sans"/>
              </a:defRPr>
            </a:pPr>
            <a:r>
              <a:t>03</a:t>
            </a:r>
          </a:p>
        </p:txBody>
      </p:sp>
      <p:sp>
        <p:nvSpPr>
          <p:cNvPr id="18" name="TextBox 17"/>
          <p:cNvSpPr txBox="1"/>
          <p:nvPr/>
        </p:nvSpPr>
        <p:spPr>
          <a:xfrm>
            <a:off x="6355080" y="3429000"/>
            <a:ext cx="21945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EXPOSE</a:t>
            </a:r>
          </a:p>
        </p:txBody>
      </p:sp>
      <p:sp>
        <p:nvSpPr>
          <p:cNvPr id="19" name="TextBox 18"/>
          <p:cNvSpPr txBox="1"/>
          <p:nvPr/>
        </p:nvSpPr>
        <p:spPr>
          <a:xfrm>
            <a:off x="6355080" y="3977639"/>
            <a:ext cx="2194560" cy="731520"/>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Data gaps + review flags</a:t>
            </a:r>
          </a:p>
        </p:txBody>
      </p:sp>
      <p:sp>
        <p:nvSpPr>
          <p:cNvPr id="20" name="Rectangle 19"/>
          <p:cNvSpPr/>
          <p:nvPr/>
        </p:nvSpPr>
        <p:spPr>
          <a:xfrm>
            <a:off x="9006840" y="2514600"/>
            <a:ext cx="256032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20" y="2697480"/>
            <a:ext cx="2194560" cy="502920"/>
          </a:xfrm>
          <a:prstGeom prst="rect">
            <a:avLst/>
          </a:prstGeom>
          <a:noFill/>
        </p:spPr>
        <p:txBody>
          <a:bodyPr wrap="square" lIns="0" rIns="0" tIns="0" bIns="0">
            <a:spAutoFit/>
          </a:bodyPr>
          <a:lstStyle/>
          <a:p>
            <a:pPr>
              <a:spcAft>
                <a:spcPts val="700"/>
              </a:spcAft>
              <a:defRPr sz="2800" b="1">
                <a:solidFill>
                  <a:srgbClr val="16796F"/>
                </a:solidFill>
                <a:latin typeface="DejaVu Sans"/>
              </a:defRPr>
            </a:pPr>
            <a:r>
              <a:t>04</a:t>
            </a:r>
          </a:p>
        </p:txBody>
      </p:sp>
      <p:sp>
        <p:nvSpPr>
          <p:cNvPr id="22" name="TextBox 21"/>
          <p:cNvSpPr txBox="1"/>
          <p:nvPr/>
        </p:nvSpPr>
        <p:spPr>
          <a:xfrm>
            <a:off x="9189720" y="3429000"/>
            <a:ext cx="2194560" cy="365760"/>
          </a:xfrm>
          <a:prstGeom prst="rect">
            <a:avLst/>
          </a:prstGeom>
          <a:noFill/>
        </p:spPr>
        <p:txBody>
          <a:bodyPr wrap="square" lIns="0" rIns="0" tIns="0" bIns="0">
            <a:spAutoFit/>
          </a:bodyPr>
          <a:lstStyle/>
          <a:p>
            <a:pPr>
              <a:spcAft>
                <a:spcPts val="700"/>
              </a:spcAft>
              <a:defRPr sz="1700" b="1">
                <a:solidFill>
                  <a:srgbClr val="172D39"/>
                </a:solidFill>
                <a:latin typeface="DejaVu Sans"/>
              </a:defRPr>
            </a:pPr>
            <a:r>
              <a:t>REVIEW</a:t>
            </a:r>
          </a:p>
        </p:txBody>
      </p:sp>
      <p:sp>
        <p:nvSpPr>
          <p:cNvPr id="23" name="TextBox 22"/>
          <p:cNvSpPr txBox="1"/>
          <p:nvPr/>
        </p:nvSpPr>
        <p:spPr>
          <a:xfrm>
            <a:off x="9189720" y="3977639"/>
            <a:ext cx="2194560" cy="731520"/>
          </a:xfrm>
          <a:prstGeom prst="rect">
            <a:avLst/>
          </a:prstGeom>
          <a:noFill/>
        </p:spPr>
        <p:txBody>
          <a:bodyPr wrap="square" lIns="0" rIns="0" tIns="0" bIns="0">
            <a:spAutoFit/>
          </a:bodyPr>
          <a:lstStyle/>
          <a:p>
            <a:pPr>
              <a:spcAft>
                <a:spcPts val="700"/>
              </a:spcAft>
              <a:defRPr sz="1700" b="0">
                <a:solidFill>
                  <a:srgbClr val="5C6C73"/>
                </a:solidFill>
                <a:latin typeface="DejaVu Sans"/>
              </a:defRPr>
            </a:pPr>
            <a:r>
              <a:t>Human questions + checks</a:t>
            </a:r>
          </a:p>
        </p:txBody>
      </p:sp>
      <p:sp>
        <p:nvSpPr>
          <p:cNvPr id="24" name="TextBox 23"/>
          <p:cNvSpPr txBox="1"/>
          <p:nvPr/>
        </p:nvSpPr>
        <p:spPr>
          <a:xfrm>
            <a:off x="502920" y="5440680"/>
            <a:ext cx="11064240" cy="640080"/>
          </a:xfrm>
          <a:prstGeom prst="rect">
            <a:avLst/>
          </a:prstGeom>
          <a:noFill/>
        </p:spPr>
        <p:txBody>
          <a:bodyPr wrap="square" lIns="0" rIns="0" tIns="0" bIns="0">
            <a:spAutoFit/>
          </a:bodyPr>
          <a:lstStyle/>
          <a:p>
            <a:pPr>
              <a:spcAft>
                <a:spcPts val="700"/>
              </a:spcAft>
              <a:defRPr sz="1800" b="0">
                <a:solidFill>
                  <a:srgbClr val="172D39"/>
                </a:solidFill>
                <a:latin typeface="DejaVu Sans"/>
              </a:defRPr>
            </a:pPr>
            <a:r>
              <a:t>Expert prompts: Is the origin correct? Is the service inventory sufficient?</a:t>
            </a:r>
          </a:p>
          <a:p>
            <a:pPr>
              <a:spcAft>
                <a:spcPts val="700"/>
              </a:spcAft>
              <a:defRPr sz="1800" b="0">
                <a:solidFill>
                  <a:srgbClr val="172D39"/>
                </a:solidFill>
                <a:latin typeface="DejaVu Sans"/>
              </a:defRPr>
            </a:pPr>
            <a:r>
              <a:t>Do modelled routes match actual entrances, crossings and sidewalk continuity?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02920" y="274320"/>
            <a:ext cx="10058400" cy="22860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URBAN PLANNING COPILOT  /  CONCLUSION &amp; NEXT CHECK</a:t>
            </a:r>
          </a:p>
        </p:txBody>
      </p:sp>
      <p:sp>
        <p:nvSpPr>
          <p:cNvPr id="3" name="TextBox 2"/>
          <p:cNvSpPr txBox="1"/>
          <p:nvPr/>
        </p:nvSpPr>
        <p:spPr>
          <a:xfrm>
            <a:off x="502920" y="777240"/>
            <a:ext cx="10972800" cy="914400"/>
          </a:xfrm>
          <a:prstGeom prst="rect">
            <a:avLst/>
          </a:prstGeom>
          <a:noFill/>
        </p:spPr>
        <p:txBody>
          <a:bodyPr wrap="square" lIns="0" rIns="0" tIns="0" bIns="0">
            <a:spAutoFit/>
          </a:bodyPr>
          <a:lstStyle/>
          <a:p>
            <a:pPr>
              <a:spcAft>
                <a:spcPts val="700"/>
              </a:spcAft>
              <a:defRPr sz="3000" b="1">
                <a:solidFill>
                  <a:srgbClr val="172D39"/>
                </a:solidFill>
                <a:latin typeface="DejaVu Sans"/>
              </a:defRPr>
            </a:pPr>
            <a:r>
              <a:t>Portfolio-ready with disclosed limitations</a:t>
            </a:r>
          </a:p>
        </p:txBody>
      </p:sp>
      <p:sp>
        <p:nvSpPr>
          <p:cNvPr id="4" name="TextBox 3"/>
          <p:cNvSpPr txBox="1"/>
          <p:nvPr/>
        </p:nvSpPr>
        <p:spPr>
          <a:xfrm>
            <a:off x="502920" y="1572768"/>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A limited field review can increase trust in this specific case.</a:t>
            </a:r>
          </a:p>
        </p:txBody>
      </p:sp>
      <p:sp>
        <p:nvSpPr>
          <p:cNvPr id="5" name="Rectangle 4"/>
          <p:cNvSpPr/>
          <p:nvPr/>
        </p:nvSpPr>
        <p:spPr>
          <a:xfrm>
            <a:off x="502920" y="6409944"/>
            <a:ext cx="11155680" cy="10972"/>
          </a:xfrm>
          <a:prstGeom prst="rect">
            <a:avLst/>
          </a:prstGeom>
          <a:solidFill>
            <a:srgbClr val="D8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201168"/>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Source: Step 7D case study + Step 7E claims register • existing outputs • 06 Oct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spcAft>
                <a:spcPts val="700"/>
              </a:spcAft>
              <a:defRPr sz="1000" b="0">
                <a:solidFill>
                  <a:srgbClr val="5C6C73"/>
                </a:solidFill>
                <a:latin typeface="DejaVu Sans"/>
              </a:defRPr>
            </a:pPr>
            <a:r>
              <a:t>07 / 07</a:t>
            </a:r>
          </a:p>
        </p:txBody>
      </p:sp>
      <p:sp>
        <p:nvSpPr>
          <p:cNvPr id="8" name="Rectangle 7"/>
          <p:cNvSpPr/>
          <p:nvPr/>
        </p:nvSpPr>
        <p:spPr>
          <a:xfrm>
            <a:off x="502920" y="2240280"/>
            <a:ext cx="11155680" cy="548640"/>
          </a:xfrm>
          <a:prstGeom prst="rect">
            <a:avLst/>
          </a:prstGeom>
          <a:solidFill>
            <a:srgbClr val="1679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359152"/>
            <a:ext cx="10698480" cy="320040"/>
          </a:xfrm>
          <a:prstGeom prst="rect">
            <a:avLst/>
          </a:prstGeom>
          <a:noFill/>
        </p:spPr>
        <p:txBody>
          <a:bodyPr wrap="square" lIns="0" rIns="0" tIns="0" bIns="0">
            <a:spAutoFit/>
          </a:bodyPr>
          <a:lstStyle/>
          <a:p>
            <a:pPr>
              <a:spcAft>
                <a:spcPts val="700"/>
              </a:spcAft>
              <a:defRPr sz="1800" b="1">
                <a:solidFill>
                  <a:srgbClr val="FFFFFF"/>
                </a:solidFill>
                <a:latin typeface="DejaVu Sans"/>
              </a:defRPr>
            </a:pPr>
            <a:r>
              <a:t>PORTFOLIO READY WITH DISCLOSED LIMITATIONS</a:t>
            </a:r>
          </a:p>
        </p:txBody>
      </p:sp>
      <p:sp>
        <p:nvSpPr>
          <p:cNvPr id="10" name="TextBox 9"/>
          <p:cNvSpPr txBox="1"/>
          <p:nvPr/>
        </p:nvSpPr>
        <p:spPr>
          <a:xfrm>
            <a:off x="502920" y="3200400"/>
            <a:ext cx="6583680" cy="731520"/>
          </a:xfrm>
          <a:prstGeom prst="rect">
            <a:avLst/>
          </a:prstGeom>
          <a:noFill/>
        </p:spPr>
        <p:txBody>
          <a:bodyPr wrap="square" lIns="0" rIns="0" tIns="0" bIns="0">
            <a:spAutoFit/>
          </a:bodyPr>
          <a:lstStyle/>
          <a:p>
            <a:pPr>
              <a:spcAft>
                <a:spcPts val="700"/>
              </a:spcAft>
              <a:defRPr sz="2000" b="1">
                <a:solidFill>
                  <a:srgbClr val="172D39"/>
                </a:solidFill>
                <a:latin typeface="DejaVu Sans"/>
              </a:defRPr>
            </a:pPr>
            <a:r>
              <a:t>Review the origin → Shahr-e Rey taxi terminal</a:t>
            </a:r>
          </a:p>
        </p:txBody>
      </p:sp>
      <p:sp>
        <p:nvSpPr>
          <p:cNvPr id="11" name="TextBox 10"/>
          <p:cNvSpPr txBox="1"/>
          <p:nvPr/>
        </p:nvSpPr>
        <p:spPr>
          <a:xfrm>
            <a:off x="502920" y="4251960"/>
            <a:ext cx="3108960" cy="594360"/>
          </a:xfrm>
          <a:prstGeom prst="rect">
            <a:avLst/>
          </a:prstGeom>
          <a:noFill/>
        </p:spPr>
        <p:txBody>
          <a:bodyPr wrap="square" lIns="0" rIns="0" tIns="0" bIns="0">
            <a:spAutoFit/>
          </a:bodyPr>
          <a:lstStyle/>
          <a:p>
            <a:pPr>
              <a:spcAft>
                <a:spcPts val="700"/>
              </a:spcAft>
              <a:defRPr sz="3400" b="1">
                <a:solidFill>
                  <a:srgbClr val="16796F"/>
                </a:solidFill>
                <a:latin typeface="DejaVu Sans"/>
              </a:defRPr>
            </a:pPr>
            <a:r>
              <a:t>61 m</a:t>
            </a:r>
          </a:p>
        </p:txBody>
      </p:sp>
      <p:sp>
        <p:nvSpPr>
          <p:cNvPr id="12" name="TextBox 11"/>
          <p:cNvSpPr txBox="1"/>
          <p:nvPr/>
        </p:nvSpPr>
        <p:spPr>
          <a:xfrm>
            <a:off x="502920" y="4937760"/>
            <a:ext cx="3108960" cy="411480"/>
          </a:xfrm>
          <a:prstGeom prst="rect">
            <a:avLst/>
          </a:prstGeom>
          <a:noFill/>
        </p:spPr>
        <p:txBody>
          <a:bodyPr wrap="square" lIns="0" rIns="0" tIns="0" bIns="0">
            <a:spAutoFit/>
          </a:bodyPr>
          <a:lstStyle/>
          <a:p>
            <a:pPr>
              <a:spcAft>
                <a:spcPts val="700"/>
              </a:spcAft>
              <a:defRPr sz="1500" b="0">
                <a:solidFill>
                  <a:srgbClr val="5C6C73"/>
                </a:solidFill>
                <a:latin typeface="DejaVu Sans"/>
              </a:defRPr>
            </a:pPr>
            <a:r>
              <a:t>Reported direct distance</a:t>
            </a:r>
          </a:p>
        </p:txBody>
      </p:sp>
      <p:sp>
        <p:nvSpPr>
          <p:cNvPr id="13" name="TextBox 12"/>
          <p:cNvSpPr txBox="1"/>
          <p:nvPr/>
        </p:nvSpPr>
        <p:spPr>
          <a:xfrm>
            <a:off x="3840480" y="4251960"/>
            <a:ext cx="3108960" cy="594360"/>
          </a:xfrm>
          <a:prstGeom prst="rect">
            <a:avLst/>
          </a:prstGeom>
          <a:noFill/>
        </p:spPr>
        <p:txBody>
          <a:bodyPr wrap="square" lIns="0" rIns="0" tIns="0" bIns="0">
            <a:spAutoFit/>
          </a:bodyPr>
          <a:lstStyle/>
          <a:p>
            <a:pPr>
              <a:spcAft>
                <a:spcPts val="700"/>
              </a:spcAft>
              <a:defRPr sz="3400" b="1">
                <a:solidFill>
                  <a:srgbClr val="16796F"/>
                </a:solidFill>
                <a:latin typeface="DejaVu Sans"/>
              </a:defRPr>
            </a:pPr>
            <a:r>
              <a:t>433 m</a:t>
            </a:r>
          </a:p>
        </p:txBody>
      </p:sp>
      <p:sp>
        <p:nvSpPr>
          <p:cNvPr id="14" name="TextBox 13"/>
          <p:cNvSpPr txBox="1"/>
          <p:nvPr/>
        </p:nvSpPr>
        <p:spPr>
          <a:xfrm>
            <a:off x="3840480" y="4937760"/>
            <a:ext cx="3108960" cy="411480"/>
          </a:xfrm>
          <a:prstGeom prst="rect">
            <a:avLst/>
          </a:prstGeom>
          <a:noFill/>
        </p:spPr>
        <p:txBody>
          <a:bodyPr wrap="square" lIns="0" rIns="0" tIns="0" bIns="0">
            <a:spAutoFit/>
          </a:bodyPr>
          <a:lstStyle/>
          <a:p>
            <a:pPr>
              <a:spcAft>
                <a:spcPts val="700"/>
              </a:spcAft>
              <a:defRPr sz="1500" b="0">
                <a:solidFill>
                  <a:srgbClr val="5C6C73"/>
                </a:solidFill>
                <a:latin typeface="DejaVu Sans"/>
              </a:defRPr>
            </a:pPr>
            <a:r>
              <a:t>Reported network distance</a:t>
            </a:r>
          </a:p>
        </p:txBody>
      </p:sp>
      <p:sp>
        <p:nvSpPr>
          <p:cNvPr id="15" name="Rectangle 14"/>
          <p:cNvSpPr/>
          <p:nvPr/>
        </p:nvSpPr>
        <p:spPr>
          <a:xfrm>
            <a:off x="7360920" y="3200400"/>
            <a:ext cx="429768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3383280"/>
            <a:ext cx="3840480" cy="320040"/>
          </a:xfrm>
          <a:prstGeom prst="rect">
            <a:avLst/>
          </a:prstGeom>
          <a:noFill/>
        </p:spPr>
        <p:txBody>
          <a:bodyPr wrap="square" lIns="0" rIns="0" tIns="0" bIns="0">
            <a:spAutoFit/>
          </a:bodyPr>
          <a:lstStyle/>
          <a:p>
            <a:pPr>
              <a:spcAft>
                <a:spcPts val="700"/>
              </a:spcAft>
              <a:defRPr sz="1100" b="1">
                <a:solidFill>
                  <a:srgbClr val="16796F"/>
                </a:solidFill>
                <a:latin typeface="DejaVu Sans"/>
              </a:defRPr>
            </a:pPr>
            <a:r>
              <a:t>FIELD REVIEW DELIVERABLES</a:t>
            </a:r>
          </a:p>
        </p:txBody>
      </p:sp>
      <p:sp>
        <p:nvSpPr>
          <p:cNvPr id="17" name="TextBox 16"/>
          <p:cNvSpPr txBox="1"/>
          <p:nvPr/>
        </p:nvSpPr>
        <p:spPr>
          <a:xfrm>
            <a:off x="7589520" y="3931920"/>
            <a:ext cx="3840480" cy="1097280"/>
          </a:xfrm>
          <a:prstGeom prst="rect">
            <a:avLst/>
          </a:prstGeom>
          <a:noFill/>
        </p:spPr>
        <p:txBody>
          <a:bodyPr wrap="square" lIns="0" rIns="0" tIns="0" bIns="0">
            <a:spAutoFit/>
          </a:bodyPr>
          <a:lstStyle/>
          <a:p>
            <a:pPr>
              <a:spcAft>
                <a:spcPts val="700"/>
              </a:spcAft>
              <a:defRPr sz="1800" b="0">
                <a:solidFill>
                  <a:srgbClr val="172D39"/>
                </a:solidFill>
                <a:latin typeface="DejaVu Sans"/>
              </a:defRPr>
            </a:pPr>
            <a:r>
              <a:t>Photos</a:t>
            </a:r>
          </a:p>
          <a:p>
            <a:pPr>
              <a:spcAft>
                <a:spcPts val="700"/>
              </a:spcAft>
              <a:defRPr sz="1800" b="0">
                <a:solidFill>
                  <a:srgbClr val="172D39"/>
                </a:solidFill>
                <a:latin typeface="DejaVu Sans"/>
              </a:defRPr>
            </a:pPr>
            <a:r>
              <a:t>Annotated map</a:t>
            </a:r>
          </a:p>
          <a:p>
            <a:pPr>
              <a:spcAft>
                <a:spcPts val="700"/>
              </a:spcAft>
              <a:defRPr sz="1800" b="0">
                <a:solidFill>
                  <a:srgbClr val="172D39"/>
                </a:solidFill>
                <a:latin typeface="DejaVu Sans"/>
              </a:defRPr>
            </a:pPr>
            <a:r>
              <a:t>Model / observation comparison</a:t>
            </a:r>
          </a:p>
        </p:txBody>
      </p:sp>
      <p:sp>
        <p:nvSpPr>
          <p:cNvPr id="18" name="TextBox 17"/>
          <p:cNvSpPr txBox="1"/>
          <p:nvPr/>
        </p:nvSpPr>
        <p:spPr>
          <a:xfrm>
            <a:off x="502920" y="5623560"/>
            <a:ext cx="10972800" cy="502920"/>
          </a:xfrm>
          <a:prstGeom prst="rect">
            <a:avLst/>
          </a:prstGeom>
          <a:noFill/>
        </p:spPr>
        <p:txBody>
          <a:bodyPr wrap="square" lIns="0" rIns="0" tIns="0" bIns="0">
            <a:spAutoFit/>
          </a:bodyPr>
          <a:lstStyle/>
          <a:p>
            <a:pPr>
              <a:spcAft>
                <a:spcPts val="700"/>
              </a:spcAft>
              <a:defRPr sz="1600" b="0">
                <a:solidFill>
                  <a:srgbClr val="5C6C73"/>
                </a:solidFill>
                <a:latin typeface="DejaVu Sans"/>
              </a:defRPr>
            </a:pPr>
            <a:r>
              <a:t>Proposed research check, not a prerequisite for current portfolio presentation.</a:t>
            </a:r>
          </a:p>
          <a:p>
            <a:pPr>
              <a:spcAft>
                <a:spcPts val="700"/>
              </a:spcAft>
              <a:defRPr sz="1600" b="0">
                <a:solidFill>
                  <a:srgbClr val="5C6C73"/>
                </a:solidFill>
                <a:latin typeface="DejaVu Sans"/>
              </a:defRPr>
            </a:pPr>
            <a:r>
              <a:t>Reported distances are not field-verified measurements.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Shahr-e Rey | Pedestrian Access Screening</dc:title>
  <dc:subject>Research portfolio with disclosed limitations</dc:subject>
  <dc:creator>Urban Planning Copilot</dc:creator>
  <cp:keywords>GIS, network analysis, Shahr-e Rey, research prototype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